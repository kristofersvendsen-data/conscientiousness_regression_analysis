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717E7A-0758-4E37-9B04-E8A79C50E15C}">
  <a:tblStyle styleId="{2B717E7A-0758-4E37-9B04-E8A79C50E1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b6220c6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b6220c6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0189c7c2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0189c7c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0189c7c2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0189c7c2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0189c7c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0189c7c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0189c7c2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0189c7c2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189c7c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189c7c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21749180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21749180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0b6220c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0b6220c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0b6220c6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0b6220c6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3F3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Factors Affecting </a:t>
            </a:r>
            <a:r>
              <a:rPr lang="en"/>
              <a:t>Conscientiousness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Kristofer Svendsen, MSc.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conscientiousness?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One of the Big Five personality traits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Set of p</a:t>
            </a:r>
            <a:r>
              <a:rPr lang="en">
                <a:solidFill>
                  <a:schemeClr val="dk1"/>
                </a:solidFill>
              </a:rPr>
              <a:t>ersonality constructs related an individual’s propensity to be self-controlled, responsible to others, hardworking, orderly, and rule-abiding.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High levels of conscientiousness are associated with: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High achievement in formal education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High job performance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Marital stability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Lower risk of depression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0" y="4681800"/>
            <a:ext cx="316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(Roberts et al., 2014); image: Anna Tunikova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7579" y="1017725"/>
            <a:ext cx="3664726" cy="356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Participants: Age &amp; Gender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Responses: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Males: 809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Females: 1679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Total: 2488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Age (years):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Combined Median: 26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Males Median: 25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Females Median: 27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Youngest: 14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Males: 15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Females: 14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Oldest: 86 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Males: 74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Females: 86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0" name="Google Shape;70;p15" title="Population_Pyram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1170125"/>
            <a:ext cx="4527601" cy="3622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Participants: Education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Some High School: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Male: 88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Female: 128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High School: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Male: 101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Female: 180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u="sng">
                <a:solidFill>
                  <a:schemeClr val="dk1"/>
                </a:solidFill>
              </a:rPr>
              <a:t>Some College:</a:t>
            </a:r>
            <a:endParaRPr u="sng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Male: 341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Female: 860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College: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Male: 130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Female: 252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Graduate Degree: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Male: 149</a:t>
            </a:r>
            <a:endParaRPr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>
                <a:solidFill>
                  <a:schemeClr val="dk1"/>
                </a:solidFill>
              </a:rPr>
              <a:t>Female 259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7" name="Google Shape;77;p16" title="Education_Lev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1170125"/>
            <a:ext cx="4527601" cy="3196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Conscientiousness </a:t>
            </a:r>
            <a:r>
              <a:rPr lang="en"/>
              <a:t>Questionnaire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3999900" cy="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</a:rPr>
              <a:t>Questions 4 and 5 are reverse scored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>
                <a:solidFill>
                  <a:schemeClr val="dk1"/>
                </a:solidFill>
              </a:rPr>
              <a:t>Maximum score of 24</a:t>
            </a:r>
            <a:endParaRPr sz="5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479525" y="1152475"/>
            <a:ext cx="3999900" cy="22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Am exacting in my work.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Continue until everything is perfect.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Do things according to a plan.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Do things in a half-way manner.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Waste my 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85" name="Google Shape;85;p17"/>
          <p:cNvGraphicFramePr/>
          <p:nvPr/>
        </p:nvGraphicFramePr>
        <p:xfrm>
          <a:off x="311700" y="196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{2B717E7A-0758-4E37-9B04-E8A79C50E15C}</a:tableStyleId>
              </a:tblPr>
              <a:tblGrid>
                <a:gridCol w="656550"/>
                <a:gridCol w="2804350"/>
              </a:tblGrid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Score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Response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NA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NA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Very Inaccurate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2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Moderately Inaccurate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Slightly Inaccurate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Slightly Accurate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Moderately Accurate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6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Very Accurate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Questionnaire</a:t>
            </a:r>
            <a:r>
              <a:rPr lang="en"/>
              <a:t> Results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Average Score Overall = 16.98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Average Male = 16.36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Average Female = 17.24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Reliability Measures: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⍺ = 0.72, 95% CI [0.70, 0.74]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ꭥ</a:t>
            </a:r>
            <a:r>
              <a:rPr baseline="-25000" lang="en">
                <a:solidFill>
                  <a:schemeClr val="dk1"/>
                </a:solidFill>
              </a:rPr>
              <a:t>h</a:t>
            </a:r>
            <a:r>
              <a:rPr lang="en">
                <a:solidFill>
                  <a:schemeClr val="dk1"/>
                </a:solidFill>
              </a:rPr>
              <a:t> = 0.73, 95% CI [0.71, 0.74]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2" name="Google Shape;92;p18" title="Conscientiousness_Histo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4000" y="1170125"/>
            <a:ext cx="4527601" cy="3622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Factors Affecting </a:t>
            </a:r>
            <a:r>
              <a:rPr lang="en"/>
              <a:t>Conscientiousness</a:t>
            </a:r>
            <a:r>
              <a:rPr lang="en"/>
              <a:t> 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Age is positively correlated showing a small but statistically significant effect.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Gender shows a significant effect with females averaging 0.78 higher on our </a:t>
            </a:r>
            <a:r>
              <a:rPr lang="en">
                <a:solidFill>
                  <a:schemeClr val="dk1"/>
                </a:solidFill>
              </a:rPr>
              <a:t>conscientiousness</a:t>
            </a:r>
            <a:r>
              <a:rPr lang="en">
                <a:solidFill>
                  <a:schemeClr val="dk1"/>
                </a:solidFill>
              </a:rPr>
              <a:t> scale.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Some </a:t>
            </a:r>
            <a:r>
              <a:rPr lang="en">
                <a:solidFill>
                  <a:schemeClr val="dk1"/>
                </a:solidFill>
              </a:rPr>
              <a:t>college</a:t>
            </a:r>
            <a:r>
              <a:rPr lang="en">
                <a:solidFill>
                  <a:schemeClr val="dk1"/>
                </a:solidFill>
              </a:rPr>
              <a:t> education is associated with an average of 0.98 higher scores compared to some high school education. All other education levels showed no significant difference from some high school education.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" name="Google Shape;99;p19" title="consc_reg_tab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750" y="1152475"/>
            <a:ext cx="2218057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Findings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45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Conscientiousness increases with 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Females are more conscientious than Males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with some college education showed higher conscientiousness scores than those with higher education levels. This is counter to what would be expected as conscientiousness is considered a predictor of higher-education success and thus you would expect to find higher levels of this personality trait present in the higher education population (Roberts et al., 2014).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 title="Conscentious_Educ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300" y="1170125"/>
            <a:ext cx="4014301" cy="2834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7383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2800 survey responses total → 2488 remain after cleaning: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223 removed for NA in education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2 removed for age &lt;14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87 removed for NA in survey questions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 interaction between predictor terms: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VIF &lt;1.2 for all terms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45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Roberts, B. W., Lejuez, C., Krueger, R. F., Richards, J. M., &amp; Hill, P. L. (2014). What is conscientiousness and how can it be assessed?. </a:t>
            </a:r>
            <a:r>
              <a:rPr i="1" lang="en" sz="1100">
                <a:solidFill>
                  <a:schemeClr val="dk1"/>
                </a:solidFill>
              </a:rPr>
              <a:t>Developmental psychology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i="1" lang="en" sz="1100">
                <a:solidFill>
                  <a:schemeClr val="dk1"/>
                </a:solidFill>
              </a:rPr>
              <a:t>50</a:t>
            </a:r>
            <a:r>
              <a:rPr lang="en" sz="1100">
                <a:solidFill>
                  <a:schemeClr val="dk1"/>
                </a:solidFill>
              </a:rPr>
              <a:t>(5), 1315.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Image attribution: Original: Anna Tunikova for peats.de and wikipedia Vector:  EssensStrassen, CC BY 4.0 &lt;https://creativecommons.org/licenses/by/4.0&gt;, via Wikimedia Commons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